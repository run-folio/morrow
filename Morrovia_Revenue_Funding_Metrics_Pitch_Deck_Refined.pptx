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33b0e5fc03941d1" /><Relationship Type="http://schemas.openxmlformats.org/officeDocument/2006/relationships/extended-properties" Target="/docProps/app.xml" Id="Rd321c9ecbddf4707" /><Relationship Type="http://schemas.openxmlformats.org/officeDocument/2006/relationships/officeDocument" Target="/ppt/presentation.xml" Id="R5173306fd1de4a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99843e58414a18"/>
  </p:sldMasterIdLst>
  <p:notesMasterIdLst>
    <p:notesMasterId xmlns:r="http://schemas.openxmlformats.org/officeDocument/2006/relationships" r:id="R98f7edb4621c408d"/>
  </p:notesMasterIdLst>
  <p:sldIdLst>
    <p:sldId xmlns:r="http://schemas.openxmlformats.org/officeDocument/2006/relationships" id="256" r:id="R9f57234159ba4e58"/>
    <p:sldId xmlns:r="http://schemas.openxmlformats.org/officeDocument/2006/relationships" id="257" r:id="Rc17965d525484883"/>
    <p:sldId xmlns:r="http://schemas.openxmlformats.org/officeDocument/2006/relationships" id="258" r:id="R55aa5c3d609343a6"/>
    <p:sldId xmlns:r="http://schemas.openxmlformats.org/officeDocument/2006/relationships" id="259" r:id="R93ef6c8d39fd453e"/>
    <p:sldId xmlns:r="http://schemas.openxmlformats.org/officeDocument/2006/relationships" id="260" r:id="Rc278428948c04bc3"/>
    <p:sldId xmlns:r="http://schemas.openxmlformats.org/officeDocument/2006/relationships" id="261" r:id="R450cf6e24f774a48"/>
    <p:sldId xmlns:r="http://schemas.openxmlformats.org/officeDocument/2006/relationships" id="262" r:id="R078b4688ade34763"/>
    <p:sldId xmlns:r="http://schemas.openxmlformats.org/officeDocument/2006/relationships" id="263" r:id="Rf404bad6f1c548af"/>
    <p:sldId xmlns:r="http://schemas.openxmlformats.org/officeDocument/2006/relationships" id="264" r:id="Ra0e7762e88cd4551"/>
    <p:sldId xmlns:r="http://schemas.openxmlformats.org/officeDocument/2006/relationships" id="265" r:id="Ra69f7ab603fe4f08"/>
    <p:sldId xmlns:r="http://schemas.openxmlformats.org/officeDocument/2006/relationships" id="266" r:id="R15efa953be744ba2"/>
    <p:sldId xmlns:r="http://schemas.openxmlformats.org/officeDocument/2006/relationships" id="267" r:id="R6b26ccede5fa45e4"/>
    <p:sldId xmlns:r="http://schemas.openxmlformats.org/officeDocument/2006/relationships" id="268" r:id="Rc09b17fdd3c24419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4e7c5e41094aca" /><Relationship Type="http://schemas.openxmlformats.org/officeDocument/2006/relationships/slideMaster" Target="/ppt/slideMasters/slideMaster1.xml" Id="Rf999843e58414a18" /><Relationship Type="http://schemas.openxmlformats.org/officeDocument/2006/relationships/notesMaster" Target="/ppt/notesMasters/notesMaster1.xml" Id="R98f7edb4621c408d" /><Relationship Type="http://schemas.openxmlformats.org/officeDocument/2006/relationships/presProps" Target="/ppt/presProps.xml" Id="R2b0885e8bb3a4739" /><Relationship Type="http://schemas.openxmlformats.org/officeDocument/2006/relationships/viewProps" Target="/ppt/viewProps.xml" Id="Ra5167c8e280740ed" /><Relationship Type="http://schemas.openxmlformats.org/officeDocument/2006/relationships/tableStyles" Target="/ppt/tableStyles.xml" Id="Rc27d42e7600f4b41" /><Relationship Type="http://schemas.openxmlformats.org/officeDocument/2006/relationships/slide" Target="/ppt/slides/slide1.xml" Id="R9f57234159ba4e58" /><Relationship Type="http://schemas.openxmlformats.org/officeDocument/2006/relationships/slide" Target="/ppt/slides/slide2.xml" Id="Rc17965d525484883" /><Relationship Type="http://schemas.openxmlformats.org/officeDocument/2006/relationships/slide" Target="/ppt/slides/slide3.xml" Id="R55aa5c3d609343a6" /><Relationship Type="http://schemas.openxmlformats.org/officeDocument/2006/relationships/slide" Target="/ppt/slides/slide4.xml" Id="R93ef6c8d39fd453e" /><Relationship Type="http://schemas.openxmlformats.org/officeDocument/2006/relationships/slide" Target="/ppt/slides/slide5.xml" Id="Rc278428948c04bc3" /><Relationship Type="http://schemas.openxmlformats.org/officeDocument/2006/relationships/slide" Target="/ppt/slides/slide6.xml" Id="R450cf6e24f774a48" /><Relationship Type="http://schemas.openxmlformats.org/officeDocument/2006/relationships/slide" Target="/ppt/slides/slide7.xml" Id="R078b4688ade34763" /><Relationship Type="http://schemas.openxmlformats.org/officeDocument/2006/relationships/slide" Target="/ppt/slides/slide8.xml" Id="Rf404bad6f1c548af" /><Relationship Type="http://schemas.openxmlformats.org/officeDocument/2006/relationships/slide" Target="/ppt/slides/slide9.xml" Id="Ra0e7762e88cd4551" /><Relationship Type="http://schemas.openxmlformats.org/officeDocument/2006/relationships/slide" Target="/ppt/slides/slide10.xml" Id="Ra69f7ab603fe4f08" /><Relationship Type="http://schemas.openxmlformats.org/officeDocument/2006/relationships/slide" Target="/ppt/slides/slide11.xml" Id="R15efa953be744ba2" /><Relationship Type="http://schemas.openxmlformats.org/officeDocument/2006/relationships/slide" Target="/ppt/slides/slide12.xml" Id="R6b26ccede5fa45e4" /><Relationship Type="http://schemas.openxmlformats.org/officeDocument/2006/relationships/slide" Target="/ppt/slides/slide13.xml" Id="Rc09b17fdd3c2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1ec7bbc86e42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fb3de94bce4fc4" /><Relationship Type="http://schemas.openxmlformats.org/officeDocument/2006/relationships/notesMaster" Target="/ppt/notesMasters/notesMaster1.xml" Id="R5a29867136424f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567f6c79e24c78" /><Relationship Type="http://schemas.openxmlformats.org/officeDocument/2006/relationships/notesMaster" Target="/ppt/notesMasters/notesMaster1.xml" Id="R491b4be0775f48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4560d17d1f4726" /><Relationship Type="http://schemas.openxmlformats.org/officeDocument/2006/relationships/notesMaster" Target="/ppt/notesMasters/notesMaster1.xml" Id="R5eae0e6f0a294ef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2a089ceb624cf5" /><Relationship Type="http://schemas.openxmlformats.org/officeDocument/2006/relationships/notesMaster" Target="/ppt/notesMasters/notesMaster1.xml" Id="R94efb37fa7de41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e1c2107c4164550" /><Relationship Type="http://schemas.openxmlformats.org/officeDocument/2006/relationships/notesMaster" Target="/ppt/notesMasters/notesMaster1.xml" Id="R801ec3deb1a5439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14fbe4b2eb4be9" /><Relationship Type="http://schemas.openxmlformats.org/officeDocument/2006/relationships/notesMaster" Target="/ppt/notesMasters/notesMaster1.xml" Id="Rb3ea4082638f4e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51d83eeca34968" /><Relationship Type="http://schemas.openxmlformats.org/officeDocument/2006/relationships/notesMaster" Target="/ppt/notesMasters/notesMaster1.xml" Id="R674f9bb8068f4b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401e8ba595444bf" /><Relationship Type="http://schemas.openxmlformats.org/officeDocument/2006/relationships/notesMaster" Target="/ppt/notesMasters/notesMaster1.xml" Id="R96791beee9ce4f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805b7308504a51" /><Relationship Type="http://schemas.openxmlformats.org/officeDocument/2006/relationships/notesMaster" Target="/ppt/notesMasters/notesMaster1.xml" Id="Rf945fe5e7cd443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7f46471df54d7d" /><Relationship Type="http://schemas.openxmlformats.org/officeDocument/2006/relationships/notesMaster" Target="/ppt/notesMasters/notesMaster1.xml" Id="Rff78ebbb17ce42b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0a62d0a60a4f4e" /><Relationship Type="http://schemas.openxmlformats.org/officeDocument/2006/relationships/notesMaster" Target="/ppt/notesMasters/notesMaster1.xml" Id="Rb942dfabef01457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ae8164a9cc545da" /><Relationship Type="http://schemas.openxmlformats.org/officeDocument/2006/relationships/notesMaster" Target="/ppt/notesMasters/notesMaster1.xml" Id="R270e798041d8418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d0e4d95f6ec4320" /><Relationship Type="http://schemas.openxmlformats.org/officeDocument/2006/relationships/notesMaster" Target="/ppt/notesMasters/notesMaster1.xml" Id="Rec07f7ad202341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91d9196d74e63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4c300b7cfeb448d" /><Relationship Type="http://schemas.openxmlformats.org/officeDocument/2006/relationships/slideLayout" Target="/ppt/slideLayouts/slideLayout1.xml" Id="Ra312ee26a71245ce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312ee26a71245ce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4423deed1451e" /><Relationship Type="http://schemas.openxmlformats.org/officeDocument/2006/relationships/image" Target="/ppt/media/image.png" Id="Rbc5d6358b11e4dc4" /><Relationship Type="http://schemas.openxmlformats.org/officeDocument/2006/relationships/notesSlide" Target="/ppt/notesSlides/notesSlide1.xml" Id="R8d1cf65860c943c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8eed76d6140c7" /><Relationship Type="http://schemas.openxmlformats.org/officeDocument/2006/relationships/image" Target="/ppt/media/image2.png" Id="R1c68acf6485548ca" /><Relationship Type="http://schemas.openxmlformats.org/officeDocument/2006/relationships/notesSlide" Target="/ppt/notesSlides/notesSlide2.xml" Id="Rc3bbee58312a44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16b43cb92d4587" /><Relationship Type="http://schemas.openxmlformats.org/officeDocument/2006/relationships/image" Target="/ppt/media/image3.png" Id="R22ff19bf8b6d44a1" /><Relationship Type="http://schemas.openxmlformats.org/officeDocument/2006/relationships/notesSlide" Target="/ppt/notesSlides/notesSlide3.xml" Id="R50aa0eb4f86a4d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c3ab33a67c49b3" /><Relationship Type="http://schemas.openxmlformats.org/officeDocument/2006/relationships/image" Target="/ppt/media/image4.png" Id="R27de891262b34688" /><Relationship Type="http://schemas.openxmlformats.org/officeDocument/2006/relationships/notesSlide" Target="/ppt/notesSlides/notesSlide4.xml" Id="R513bd2e1ed544e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a74fa6cd37495b" /><Relationship Type="http://schemas.openxmlformats.org/officeDocument/2006/relationships/image" Target="/ppt/media/image5.png" Id="R1a847c5893ea4bc1" /><Relationship Type="http://schemas.openxmlformats.org/officeDocument/2006/relationships/notesSlide" Target="/ppt/notesSlides/notesSlide5.xml" Id="R99ba64dfb1fc4b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e23df7f0d402c" /><Relationship Type="http://schemas.openxmlformats.org/officeDocument/2006/relationships/notesSlide" Target="/ppt/notesSlides/notesSlide6.xml" Id="R67af5ffa703f49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b6c8430614e5b" /><Relationship Type="http://schemas.openxmlformats.org/officeDocument/2006/relationships/notesSlide" Target="/ppt/notesSlides/notesSlide7.xml" Id="R0aa47ca1adca4e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0fe9c435f48ca" /><Relationship Type="http://schemas.openxmlformats.org/officeDocument/2006/relationships/notesSlide" Target="/ppt/notesSlides/notesSlide8.xml" Id="Re2de63a788c6489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c7d511380468c" /><Relationship Type="http://schemas.openxmlformats.org/officeDocument/2006/relationships/notesSlide" Target="/ppt/notesSlides/notesSlide9.xml" Id="R9323dbceb280452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1c7e668c64056" /><Relationship Type="http://schemas.openxmlformats.org/officeDocument/2006/relationships/image" Target="/ppt/media/image6.png" Id="R525d1c2e85e24169" /><Relationship Type="http://schemas.openxmlformats.org/officeDocument/2006/relationships/notesSlide" Target="/ppt/notesSlides/notesSlide10.xml" Id="Re0c9d20f0bb84b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4640801044db4" /><Relationship Type="http://schemas.openxmlformats.org/officeDocument/2006/relationships/notesSlide" Target="/ppt/notesSlides/notesSlide11.xml" Id="R68ae6749cc6548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26e7b28444c70" /><Relationship Type="http://schemas.openxmlformats.org/officeDocument/2006/relationships/image" Target="/ppt/media/image7.png" Id="Rdd9ea9012d664f86" /><Relationship Type="http://schemas.openxmlformats.org/officeDocument/2006/relationships/notesSlide" Target="/ppt/notesSlides/notesSlide12.xml" Id="R1eb5037299e94af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aa40336d14fc9" /><Relationship Type="http://schemas.openxmlformats.org/officeDocument/2006/relationships/image" Target="/ppt/media/image8.png" Id="Ra0ef37542b384981" /><Relationship Type="http://schemas.openxmlformats.org/officeDocument/2006/relationships/notesSlide" Target="/ppt/notesSlides/notesSlide13.xml" Id="R5ad0c48bea9a4f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d6358b11e4dc4"/>
          <a:srcRect xmlns:a="http://schemas.openxmlformats.org/drawingml/2006/main" l="25000" t="2000" r="15969" b="2000"/>
          <a:stretch xmlns:a="http://schemas.openxmlformats.org/drawingml/2006/main"/>
        </p:blipFill>
        <p:spPr>
          <a:xfrm xmlns:a="http://schemas.openxmlformats.org/drawingml/2006/main">
            <a:off x="6629400" y="320040"/>
            <a:ext cx="5074920" cy="6053328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715B151-C7AC-499E-98EE-741141EA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594360"/>
            <a:ext cx="2926080" cy="32004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E7DB"/>
          </a:solidFill>
          <a:ln xmlns:a="http://schemas.openxmlformats.org/drawingml/2006/main" w="12700">
            <a:solidFill>
              <a:srgbClr val="CFE7DB">
                <a:alpha val="0"/>
              </a:srgbClr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9B2A1D0-1006-4490-86BC-904E38F4F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2940"/>
            <a:ext cx="270662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0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AI journey planner + transaction engine</a:t>
            </a:r>
            <a:endParaRPr sz="105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E9A4D2A9-7317-4BAB-965A-5CA3C71E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61872"/>
            <a:ext cx="42062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58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morrovia</a:t>
            </a:r>
            <a:endParaRPr sz="58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2EBCAF1-C6CE-421C-AF0A-0C84A433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084832"/>
            <a:ext cx="53035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0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Turn travel intent</a:t>
            </a:r>
            <a:endParaRPr sz="4000"/>
          </a:p>
          <a:p xmlns:a="http://schemas.openxmlformats.org/drawingml/2006/main">
            <a:pPr marL="0" indent="0" algn="l">
              <a:lnSpc>
                <a:spcPct val="92000"/>
              </a:lnSpc>
              <a:buNone/>
            </a:pPr>
            <a:r>
              <a:rPr sz="40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into booked trips.</a:t>
            </a:r>
            <a:endParaRPr sz="4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BD6534A-956A-4FD8-A212-76399600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5257800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800">
                <a:solidFill>
                  <a:srgbClr val="60766F"/>
                </a:solidFill>
                <a:latin typeface="Aptos"/>
                <a:ea typeface="Aptos"/>
                <a:cs typeface="Aptos"/>
              </a:rPr>
              <a:t>A lean, founder-led travel product that helps people build confident routes, then monetises hotels, flights, activities and trip essentials at the exact decision moment.</a:t>
            </a:r>
            <a:endParaRPr sz="18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43F6FC9-0DEB-4F64-B3E9-FB51B78A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577840"/>
            <a:ext cx="30175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Revenue + funding pitch deck</a:t>
            </a:r>
            <a:endParaRPr sz="125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29D6612-9A3E-4363-AB04-DA86571F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281E830-1842-4660-A24B-7916A157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01</a:t>
            </a:r>
            <a:endParaRPr sz="8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9A38B45-9367-4E4E-B1AB-E2121CAE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6385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572BBA5-FB04-42C6-BEB9-70CC91882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Planning leaks value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2223E9F-51A1-4E33-A8F6-6E030DD0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Travellers arrive with intent, but the buying journey is scattered across search, maps, blogs, spreadsheets and booking sites.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957050-6D69-4423-839B-B0C481B2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52F09A8-5D6B-4706-8EB9-D4156C7C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02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623E350-4AAE-4588-990E-701C148B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833B55-3D88-4A13-A37A-755AC330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48840"/>
            <a:ext cx="3474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1</a:t>
            </a:r>
            <a:endParaRPr sz="16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0C50FF0-34C8-4728-8C87-7673B9C8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42032"/>
            <a:ext cx="2926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Fragmented decisions</a:t>
            </a:r>
            <a:endParaRPr sz="21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E4BAC69-86B0-4EE4-A04A-B257144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990088"/>
            <a:ext cx="2788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Routes, stays, flights and activities are planned in different places.</a:t>
            </a:r>
            <a:endParaRPr sz="16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F66CA23-2F76-4BD9-BC90-BC46900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148840"/>
            <a:ext cx="3474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2</a:t>
            </a:r>
            <a:endParaRPr sz="16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1F1B001-898D-42B7-A0F8-275F6625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542032"/>
            <a:ext cx="2926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Low confidence</a:t>
            </a:r>
            <a:endParaRPr sz="21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01A72B-D4DB-450F-9881-EE882F58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72" y="2990088"/>
            <a:ext cx="2788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People struggle to know if the sequence, duration and logistics actually work.</a:t>
            </a:r>
            <a:endParaRPr sz="16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CFEE916-19AA-437F-B6A0-2A0BD51B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148840"/>
            <a:ext cx="34747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3</a:t>
            </a:r>
            <a:endParaRPr sz="16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668E847-C618-40DD-A2BA-AB85B423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542032"/>
            <a:ext cx="29260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1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Lost transaction moment</a:t>
            </a:r>
            <a:endParaRPr sz="21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97B6800-5359-4B86-AA79-F430776A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2990088"/>
            <a:ext cx="278892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8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Most planners hand users away before the booking decisions are made.</a:t>
            </a:r>
            <a:endParaRPr sz="1600"/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8acf6485548ca"/>
          <a:srcRect xmlns:a="http://schemas.openxmlformats.org/drawingml/2006/main" l="2000" t="5000" r="16375" b="15000"/>
          <a:stretch xmlns:a="http://schemas.openxmlformats.org/drawingml/2006/main"/>
        </p:blipFill>
        <p:spPr>
          <a:xfrm xmlns:a="http://schemas.openxmlformats.org/drawingml/2006/main">
            <a:off x="640080" y="4434840"/>
            <a:ext cx="10927080" cy="13258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63DB636-5189-4A06-9FE4-38BD8E94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9784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5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Morrovia’s opportunity is to keep the traveller inside one decision flow until the trip becomes bookable.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5347983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8198F9B-83BC-424C-9E23-7BCC78B2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10287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Morrovia sits inside the decision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9967BDF-385A-4EDA-A244-738EF81F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Not another travel blog. A planner that moves users from idea to route to specific booking actions.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5823D58-B4B6-4F89-AFA3-E7E69CF5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B915171-842A-480D-B03D-85B3380F3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03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E73720C-482A-4C80-B797-ACA61F1E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f19bf8b6d44a1"/>
          <a:srcRect xmlns:a="http://schemas.openxmlformats.org/drawingml/2006/main" l="5000" t="0" r="14573" b="0"/>
          <a:stretch xmlns:a="http://schemas.openxmlformats.org/drawingml/2006/main"/>
        </p:blipFill>
        <p:spPr>
          <a:xfrm xmlns:a="http://schemas.openxmlformats.org/drawingml/2006/main">
            <a:off x="6995160" y="1234440"/>
            <a:ext cx="4389120" cy="4389120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75A2AD0-CB18-49C7-BC39-9DFD60A0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01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84909A0D-92A3-4FB7-AA6A-BE184D68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Start with intent</a:t>
            </a:r>
            <a:endParaRPr sz="22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98AC44-72E2-41E9-BBE6-DA27F7E5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2860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50">
                <a:solidFill>
                  <a:srgbClr val="60766F"/>
                </a:solidFill>
                <a:latin typeface="Aptos"/>
                <a:ea typeface="Aptos"/>
                <a:cs typeface="Aptos"/>
              </a:rPr>
              <a:t>“I have 2 weeks in Japan and China.”</a:t>
            </a:r>
            <a:endParaRPr sz="155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9A2395E-64BD-4D53-AC58-6FD2EA82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37744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7D0AD"/>
            </a:solidFill>
            <a:prstDash val="solid"/>
            <a:headEnd type="none"/>
            <a:tailEnd type="triangle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2205B9-6963-4DF1-89F9-C66209CB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02</a:t>
            </a:r>
            <a:endParaRPr sz="14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77D79845-D7E1-4F86-BAB6-553DF0E8D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99008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Build the trip</a:t>
            </a:r>
            <a:endParaRPr sz="22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0020613-4A2A-4822-A0A8-E16E74E6D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290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50">
                <a:solidFill>
                  <a:srgbClr val="60766F"/>
                </a:solidFill>
                <a:latin typeface="Aptos"/>
                <a:ea typeface="Aptos"/>
                <a:cs typeface="Aptos"/>
              </a:rPr>
              <a:t>Dates, route, pace, interests and trade-offs.</a:t>
            </a:r>
            <a:endParaRPr sz="155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04BECC2-34B3-4CC0-952A-A9542C15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520440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E7D0AD"/>
            </a:solidFill>
            <a:prstDash val="solid"/>
            <a:headEnd type="none"/>
            <a:tailEnd type="triangle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50228326-3B7E-43D2-986D-6EF228FA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50292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1">
                <a:solidFill>
                  <a:srgbClr val="D9785D"/>
                </a:solidFill>
                <a:latin typeface="Aptos"/>
                <a:ea typeface="Aptos"/>
                <a:cs typeface="Aptos"/>
              </a:rPr>
              <a:t>03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7CE6821B-35DD-4ECE-899F-90E6260F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133088"/>
            <a:ext cx="28346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Make it bookable</a:t>
            </a:r>
            <a:endParaRPr sz="22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E50EBC69-BC1D-4366-8C9A-21F964B3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57200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550">
                <a:solidFill>
                  <a:srgbClr val="60766F"/>
                </a:solidFill>
                <a:latin typeface="Aptos"/>
                <a:ea typeface="Aptos"/>
                <a:cs typeface="Aptos"/>
              </a:rPr>
              <a:t>Hotels, flights, activities and essentials appear at the right moment.</a:t>
            </a:r>
            <a:endParaRPr sz="1550"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7518C6A-AFF2-47A4-BFF1-8637ED01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5166360" cy="612648"/>
          </a:xfrm>
          <a:prstGeom xmlns:a="http://schemas.openxmlformats.org/drawingml/2006/main" prst="roundRect">
            <a:avLst>
              <a:gd name="adj" fmla="val 14925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CAA7A4B-D876-4A85-A82C-985D3EF2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449824"/>
            <a:ext cx="4764024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862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5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Contextual recommendations work because users already need to book the next step.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3710643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3A583DD-D18E-486D-995E-DEBC2C9E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The revenue stack is the trip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89AA548-F1AD-4C8E-8E67-2C851F0E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A single holiday contains multiple commercial decisions. Morrovia can monetise the sequence without feeling like ads.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F57898-F308-4D7E-9179-1AF07039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69D2614-E98F-4431-B714-3AE426B3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04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32BE79B-428A-4E87-8B62-3F39BA63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67B1845-CB12-4411-A9A4-A6A4DC52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568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Accommodation</a:t>
            </a:r>
            <a:endParaRPr sz="17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08F8DB-2B56-4334-A54A-C1A254E7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842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Core booking moment</a:t>
            </a:r>
            <a:endParaRPr sz="128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05757B4-4E3B-418A-87EC-1AE2D5692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9293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£40</a:t>
            </a:r>
            <a:endParaRPr sz="19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8093139-920E-49C2-B254-3F732169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048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70A6867A-E958-4824-9AC9-6FF4C7816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426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Flights</a:t>
            </a:r>
            <a:endParaRPr sz="17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D490F30-7849-483F-9E74-9A65F96E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6700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Before route locks</a:t>
            </a:r>
            <a:endParaRPr sz="128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D633F90-C235-4F52-9A46-FA7687CF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151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£10</a:t>
            </a:r>
            <a:endParaRPr sz="19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76C9B20-AB37-420D-991D-3BC409E5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906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7F5F88A-CC49-4F41-8C8E-B2F4EF25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284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Activities</a:t>
            </a:r>
            <a:endParaRPr sz="17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62B8AF0-FCE4-482E-9651-6197B2E2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3558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Inside each day</a:t>
            </a:r>
            <a:endParaRPr sz="128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77E2FE6-B5FC-4393-A15E-ACBE88AE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3009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£10–15</a:t>
            </a:r>
            <a:endParaRPr sz="19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88213E2E-7EF9-46B0-801B-45CA2B4A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764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74D2F9B-C699-4B70-9955-D38E49D8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142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Car rental</a:t>
            </a:r>
            <a:endParaRPr sz="17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513C517-5E29-4B29-9BB8-9F30420A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416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Only where useful</a:t>
            </a:r>
            <a:endParaRPr sz="12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ACF1097-81E3-49E5-AE5F-6D8BFE55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9867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£4–6</a:t>
            </a:r>
            <a:endParaRPr sz="19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186085A-6EEC-4434-998A-2F5389E9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622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5AAE9562-B01E-4497-8315-FA2F6B20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700016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eSIM + transport</a:t>
            </a:r>
            <a:endParaRPr sz="17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3EEEC5-9939-455C-A3A6-5CFE82DE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727448"/>
            <a:ext cx="18745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Preparation layer</a:t>
            </a:r>
            <a:endParaRPr sz="128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8B7AC577-3B5B-4AA2-96BE-7360A63E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4672584"/>
            <a:ext cx="777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9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£2–5</a:t>
            </a:r>
            <a:endParaRPr sz="1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48A8B3E-2C8B-4F05-A963-BD6645CDD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48072"/>
            <a:ext cx="50749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>
                <a:alpha val="90000"/>
              </a:srgbClr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e891262b34688"/>
          <a:srcRect xmlns:a="http://schemas.openxmlformats.org/drawingml/2006/main" l="3000" t="3000" r="5537" b="7000"/>
          <a:stretch xmlns:a="http://schemas.openxmlformats.org/drawingml/2006/main"/>
        </p:blipFill>
        <p:spPr>
          <a:xfrm xmlns:a="http://schemas.openxmlformats.org/drawingml/2006/main">
            <a:off x="6446520" y="1490472"/>
            <a:ext cx="4892040" cy="4297680"/>
          </a:xfrm>
          <a:prstGeom xmlns:a="http://schemas.openxmlformats.org/drawingml/2006/main" prst="rect">
            <a:avLst/>
          </a:prstGeom>
        </p:spPr>
      </p:pic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2A8048AE-3929-4D08-8DFA-0B917D28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513832"/>
            <a:ext cx="5120640" cy="438912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EEAF4443-782E-483C-BC28-35B07293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5660136"/>
            <a:ext cx="471830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Blended value per completed trip: ~£70.50 before paid products.</a:t>
            </a:r>
            <a:endParaRPr sz="1550"/>
          </a:p>
        </p:txBody>
      </p:sp>
    </p:spTree>
    <p:extLst>
      <p:ext uri="{BB962C8B-B14F-4D97-AF65-F5344CB8AC3E}">
        <p14:creationId xmlns:p14="http://schemas.microsoft.com/office/powerpoint/2010/main" val="2006309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6346769-3F97-44AD-AE62-D36AB1F44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10287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Per-trip economics become meaningful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45DB191-4104-4A72-9041-4900E122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The Year-1 model uses conservative affiliate assumptions plus a lightweight paid trip product.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2DB68A-7080-48F9-B184-952489EC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BC5AD45-00A4-4DF3-947F-6F0F4EB2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05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409B2768-71F4-49B6-BC62-4907D1D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61F48A05-B256-4F57-964E-59D30889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423160" cy="132588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62E7852-8623-4133-AB1A-DAAA4E28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66544"/>
            <a:ext cx="2093976" cy="5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~£70.50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B721BBF-B1CF-4F69-A7DC-27930BF8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675992"/>
            <a:ext cx="2020824" cy="371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affiliate revenue per completed trip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7978CED-9D3E-4C32-880E-FE55EF86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1920240"/>
            <a:ext cx="2423160" cy="1325880"/>
          </a:xfrm>
          <a:prstGeom xmlns:a="http://schemas.openxmlformats.org/drawingml/2006/main" prst="roundRect">
            <a:avLst>
              <a:gd name="adj" fmla="val 758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81A2C4D-7AC5-4167-A73D-4010FF01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66544"/>
            <a:ext cx="2093976" cy="556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+ £14.99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D263999-A09E-4BB9-9E92-CC5FCF172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736" y="2675992"/>
            <a:ext cx="2020824" cy="37124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optional Morrovia Trip Pass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D704C30-F6BC-4F6C-9B5C-FE73281F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5212080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0D2"/>
          </a:solidFill>
          <a:ln xmlns:a="http://schemas.openxmlformats.org/drawingml/2006/main" w="12700">
            <a:solidFill>
              <a:srgbClr val="E4E0D2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59FB34A-DF67-4242-B558-DD0FBF46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931920"/>
            <a:ext cx="2957209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B83"/>
          </a:solidFill>
          <a:ln xmlns:a="http://schemas.openxmlformats.org/drawingml/2006/main" w="12700">
            <a:solidFill>
              <a:srgbClr val="168B83"/>
            </a:solidFill>
            <a:prstDash val="solid"/>
          </a:ln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644C3105-E782-48EC-8C86-39634267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4449" y="3931920"/>
            <a:ext cx="739302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A257"/>
          </a:solidFill>
          <a:ln xmlns:a="http://schemas.openxmlformats.org/drawingml/2006/main" w="12700">
            <a:solidFill>
              <a:srgbClr val="D4A257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8E3A526-91D4-49A2-B8C4-276DDD85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751" y="3931920"/>
            <a:ext cx="887163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85D"/>
          </a:solidFill>
          <a:ln xmlns:a="http://schemas.openxmlformats.org/drawingml/2006/main" w="12700">
            <a:solidFill>
              <a:srgbClr val="D9785D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06C4B30B-BF17-4D1C-BC7F-28370F19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913" y="3931920"/>
            <a:ext cx="369651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8E64"/>
          </a:solidFill>
          <a:ln xmlns:a="http://schemas.openxmlformats.org/drawingml/2006/main" w="12700">
            <a:solidFill>
              <a:srgbClr val="BA8E64"/>
            </a:solidFill>
            <a:prstDash val="solid"/>
          </a:ln>
        </p:spPr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B199916-E2E3-4EE3-B04D-D00D86FC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0564" y="3931920"/>
            <a:ext cx="258756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766F"/>
          </a:solidFill>
          <a:ln xmlns:a="http://schemas.openxmlformats.org/drawingml/2006/main" w="12700">
            <a:solidFill>
              <a:srgbClr val="60766F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E88151D-4D02-4332-9FEA-2BB29519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Accom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£40</a:t>
            </a:r>
            <a:endParaRPr sz="128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2A3FEC8-C99D-4028-8427-E1CD47459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Flights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£10</a:t>
            </a:r>
            <a:endParaRPr sz="128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2EDDDB-A773-479C-ACE8-4ADF5E28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036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Activities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£12</a:t>
            </a:r>
            <a:endParaRPr sz="128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0C937BE-87AC-41B7-9547-D15836E1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Car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£5</a:t>
            </a:r>
            <a:endParaRPr sz="128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B2F32EC0-BFCB-46EB-BC33-D8FCBDA2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480560"/>
            <a:ext cx="914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Other</a:t>
            </a:r>
            <a:endParaRPr sz="1280"/>
          </a:p>
          <a:p xmlns:a="http://schemas.openxmlformats.org/drawingml/2006/main">
            <a:pPr marL="0" indent="0" algn="ctr">
              <a:lnSpc>
                <a:spcPct val="9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£3.5</a:t>
            </a:r>
            <a:endParaRPr sz="1280"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47c5893ea4bc1"/>
          <a:srcRect xmlns:a="http://schemas.openxmlformats.org/drawingml/2006/main" l="22000" t="2000" r="-21053" b="4000"/>
          <a:stretch xmlns:a="http://schemas.openxmlformats.org/drawingml/2006/main"/>
        </p:blipFill>
        <p:spPr>
          <a:xfrm xmlns:a="http://schemas.openxmlformats.org/drawingml/2006/main">
            <a:off x="6858000" y="1280160"/>
            <a:ext cx="4114800" cy="4343400"/>
          </a:xfrm>
          <a:prstGeom xmlns:a="http://schemas.openxmlformats.org/drawingml/2006/main" prst="rect">
            <a:avLst/>
          </a:prstGeom>
        </p:spPr>
      </p:pic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083AF96-1327-468D-BC5D-094D43DF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806440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80">
                <a:solidFill>
                  <a:srgbClr val="60766F"/>
                </a:solidFill>
                <a:latin typeface="Aptos"/>
                <a:ea typeface="Aptos"/>
                <a:cs typeface="Aptos"/>
              </a:rPr>
              <a:t>Working assumptions only. Real performance depends on traffic quality, affiliate acceptance, basket size and conversion.</a:t>
            </a:r>
            <a:endParaRPr sz="1280"/>
          </a:p>
        </p:txBody>
      </p:sp>
    </p:spTree>
    <p:extLst>
      <p:ext uri="{BB962C8B-B14F-4D97-AF65-F5344CB8AC3E}">
        <p14:creationId xmlns:p14="http://schemas.microsoft.com/office/powerpoint/2010/main" val="17830868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5F1DFF3-E73F-47E7-843C-83699E3F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The three metrics that matter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0EFC6DA-BC62-401E-AA79-83E9B556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Morrovia’s revenue model should be explained through three simple levers: qualified planners, booking conversion and average affiliate income.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4DCDED6-EEC7-45BC-9230-93433014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834822-C1D1-4DE5-A0B3-9FD6B858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06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C915662-3E46-474B-AD7E-A045ED89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3936C96-F286-4089-8066-C88348B66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28800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MAUs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C0EC5BB-F5DA-448B-BE28-315A37E5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212848"/>
            <a:ext cx="2971800" cy="1481328"/>
          </a:xfrm>
          <a:prstGeom xmlns:a="http://schemas.openxmlformats.org/drawingml/2006/main" prst="roundRect">
            <a:avLst>
              <a:gd name="adj" fmla="val 679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88FAF10-F36F-41B6-BF9E-779C09F9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59152"/>
            <a:ext cx="2642616" cy="6221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1,000</a:t>
            </a:r>
            <a:endParaRPr sz="30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2221846-C22C-4C9E-B62D-51915ABF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3057205"/>
            <a:ext cx="2569464" cy="414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qualified active planners / month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AA312DA-6180-4259-A1E5-D25B91E9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1828800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Booking conversion</a:t>
            </a:r>
            <a:endParaRPr sz="13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A2B96AD5-AE19-4187-8D2F-76B64DCB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2212848"/>
            <a:ext cx="2971800" cy="1481328"/>
          </a:xfrm>
          <a:prstGeom xmlns:a="http://schemas.openxmlformats.org/drawingml/2006/main" prst="roundRect">
            <a:avLst>
              <a:gd name="adj" fmla="val 679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0D86293-12EA-4FA3-8A9E-61DC6DC9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0288" y="2359152"/>
            <a:ext cx="2642616" cy="6221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12%</a:t>
            </a:r>
            <a:endParaRPr sz="30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7F05E9EB-010B-418D-8A86-F3F5A11F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3057205"/>
            <a:ext cx="2569464" cy="414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planners who complete bookings via Morrovia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0E07332-DE8A-4C90-BFBF-55036D24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1828800"/>
            <a:ext cx="2971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Avg. affiliate income</a:t>
            </a:r>
            <a:endParaRPr sz="135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BA3F585-4C1A-4864-B02D-705D229B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1584" y="2212848"/>
            <a:ext cx="2971800" cy="1481328"/>
          </a:xfrm>
          <a:prstGeom xmlns:a="http://schemas.openxmlformats.org/drawingml/2006/main" prst="roundRect">
            <a:avLst>
              <a:gd name="adj" fmla="val 679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8EF3CF5-D226-44D7-9989-3B9016F2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176" y="2359152"/>
            <a:ext cx="2642616" cy="6221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4A257"/>
                </a:solidFill>
                <a:latin typeface="Aptos Display"/>
                <a:ea typeface="Aptos Display"/>
                <a:cs typeface="Aptos Display"/>
              </a:rPr>
              <a:t>£70</a:t>
            </a:r>
            <a:endParaRPr sz="30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F627990-ED82-46E3-87C8-C1DF431AF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057205"/>
            <a:ext cx="2569464" cy="4147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per completed monetised trip</a:t>
            </a:r>
            <a:endParaRPr sz="13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2546A44-494C-45D3-8A48-E4A39660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MAUs × booking conversion × average affiliate income × 12 = annualised revenue</a:t>
            </a:r>
            <a:endParaRPr sz="24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F8D13EA6-DB23-4D00-BE9A-EA8D1311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138928"/>
            <a:ext cx="9235440" cy="603504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4662A2C-FCC4-4CE4-8D17-072149BB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208" y="5285232"/>
            <a:ext cx="8833104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8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1 model: 1,000 MAUs × 12% booking conversion × £70 × 12 = ~£100.8k ARR.</a:t>
            </a:r>
            <a:endParaRPr sz="18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71EB30B-BBA2-4340-8737-5F9BB8D45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879592"/>
            <a:ext cx="9144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80">
                <a:solidFill>
                  <a:srgbClr val="60766F"/>
                </a:solidFill>
                <a:latin typeface="Aptos"/>
                <a:ea typeface="Aptos"/>
                <a:cs typeface="Aptos"/>
              </a:rPr>
              <a:t>Important: at 10% conversion, 1,000 MAUs is ~£84k ARR. The £100k target assumes roughly 12% conversion or a small amount of direct Trip Pass revenue.</a:t>
            </a:r>
            <a:endParaRPr sz="1380"/>
          </a:p>
        </p:txBody>
      </p:sp>
    </p:spTree>
    <p:extLst>
      <p:ext uri="{BB962C8B-B14F-4D97-AF65-F5344CB8AC3E}">
        <p14:creationId xmlns:p14="http://schemas.microsoft.com/office/powerpoint/2010/main" val="20225279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6EF4936-6C3F-43B9-8DDF-A7B05C6E0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The growth targets are simple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CAA56C1-B8BB-4E6A-9982-AA778A9F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The deck should anchor around MAUs, booking conversion and average affiliate income — not generic traffic.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B5D744D-6376-4C47-950E-26FA9EAA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0728F93-7DA4-4F42-AB83-A4EE365A9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07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19087B56-F988-43C5-A64C-9AE02F21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A301D53-6261-4FF8-A5AA-501877F4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93392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Milestone</a:t>
            </a:r>
            <a:endParaRPr sz="13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E02732-8E0A-45B2-A2C1-E71ABDAF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99339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MAUs</a:t>
            </a:r>
            <a:endParaRPr sz="13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CBF2FE-5616-43BA-965E-33D2A533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99339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Booking conv.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4F11F73-30D5-404C-8315-B9FABD04D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93392"/>
            <a:ext cx="1508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Avg. income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DA502F9-D268-4C9B-B430-B28AB703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993392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 b="1">
                <a:solidFill>
                  <a:srgbClr val="60766F"/>
                </a:solidFill>
                <a:latin typeface="Aptos"/>
                <a:ea typeface="Aptos"/>
                <a:cs typeface="Aptos"/>
              </a:rPr>
              <a:t>Annualised revenue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5E58AEA-0A0F-4F90-AB26-4816130A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368296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AD8CD">
                <a:alpha val="75000"/>
              </a:srgbClr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22BCD1A-5799-4E21-8995-755D1481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78608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1</a:t>
            </a:r>
            <a:endParaRPr sz="17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9250438-B56B-4DD9-B169-08D9224A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578608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1,000</a:t>
            </a:r>
            <a:endParaRPr sz="2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B7057C1-2AB4-488A-8C63-4DAE053F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78608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12%</a:t>
            </a:r>
            <a:endParaRPr sz="22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6939AAD-DF88-431E-82E3-96B96822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78608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£70</a:t>
            </a:r>
            <a:endParaRPr sz="22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5906FD-8D86-417D-A014-99951D840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578608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£100k ARR</a:t>
            </a:r>
            <a:endParaRPr sz="24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4326110-B25A-403B-B76B-4212A3D4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355848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75000"/>
              </a:srgbClr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3E255AD-171C-4FFD-9749-8C7021B9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66160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2</a:t>
            </a:r>
            <a:endParaRPr sz="17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1BADDE-2846-48A9-9671-BF5A0EEF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566160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5,000</a:t>
            </a:r>
            <a:endParaRPr sz="22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585FC04-72A6-4C62-B1E6-2F8FC44E7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3566160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12%</a:t>
            </a:r>
            <a:endParaRPr sz="22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F0124DD-1463-40BA-9C6F-9EF10662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6160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£75</a:t>
            </a:r>
            <a:endParaRPr sz="2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7F32770-F6D4-4E8A-8D7B-FC56B96F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3566160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£540k ARR</a:t>
            </a:r>
            <a:endParaRPr sz="24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8CCC2D5C-DB59-4B59-A5C5-893D37A3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43400"/>
            <a:ext cx="10287000" cy="749808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E6D8"/>
          </a:solidFill>
          <a:ln xmlns:a="http://schemas.openxmlformats.org/drawingml/2006/main" w="12700">
            <a:solidFill>
              <a:srgbClr val="CAD8CD">
                <a:alpha val="7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F4E0EFE-518B-4B46-A751-C2D9DF7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53712"/>
            <a:ext cx="14173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Year 3</a:t>
            </a:r>
            <a:endParaRPr sz="17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9F76ACB9-CE5B-4A55-B6C0-039150B7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4553712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10,000</a:t>
            </a:r>
            <a:endParaRPr sz="22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96411B1-835B-45D5-98A2-0E3F9713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4553712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12%</a:t>
            </a:r>
            <a:endParaRPr sz="2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9ABA5B4-E0BC-4B97-8BF7-353CBB66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553712"/>
            <a:ext cx="1508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20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£70</a:t>
            </a:r>
            <a:endParaRPr sz="22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87C6546-E8FC-4C9C-B7E5-D0F4C3F3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4553712"/>
            <a:ext cx="2011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24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£1.0m ARR</a:t>
            </a:r>
            <a:endParaRPr sz="24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FE30B722-308C-4892-BEB4-1A10DC3A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5486400"/>
            <a:ext cx="9692640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BDFDD86-78BC-4BF6-9238-2CA0DC4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5632704"/>
            <a:ext cx="929030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 target: 10,000 qualified planners/month × 12% conversion × £70 = ~£84k/month, or ~£1.0m ARR.</a:t>
            </a:r>
            <a:endParaRPr sz="17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89602015-15FA-4569-A87E-134CB0F8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6199632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50">
                <a:solidFill>
                  <a:srgbClr val="60766F"/>
                </a:solidFill>
                <a:latin typeface="Aptos"/>
                <a:ea typeface="Aptos"/>
                <a:cs typeface="Aptos"/>
              </a:rPr>
              <a:t>The major investor question becomes: can Morrovia reach 10k high-intent planners/month and maintain ~12% booking conversion?</a:t>
            </a:r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308276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2C19631-9EA5-444B-B708-18F403D0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10287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3600"/>
            </a:pPr>
            <a:r>
              <a:rPr sz="36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Funding: validation capital, not a big pre-seed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24028E8-15DF-4CA8-BF91-FF14A8E2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With no founder salaries in Year 1, Morrovia can be tested cheaply before raising serious growth capital.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D9BD020-BD53-442D-89B7-6FE64DA1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F8DC3B7-18E4-4EE8-B835-1407CFCD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08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5DBA2F42-B1B9-4DCE-8CD0-024A03F5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2D5B5CA-F1FC-409B-8521-ECADACD2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057400"/>
            <a:ext cx="2788920" cy="123444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7EB41FE-F024-475E-BD51-71839D8B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2203704"/>
            <a:ext cx="2459736" cy="518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£5k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270FCAF-E3D1-4078-89D6-D5E095E1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61031"/>
            <a:ext cx="2386584" cy="345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Founder-funded launch</a:t>
            </a:r>
            <a:endParaRPr sz="13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EDCF14-6E66-44D7-9A60-C0B957B1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61188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MVP, analytics, basic APIs, first organic/social tests.</a:t>
            </a:r>
            <a:endParaRPr sz="14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B96068F-B01D-4698-BE85-0E25F2F0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57400"/>
            <a:ext cx="2788920" cy="123444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5B30BE2-0399-4C69-92B2-821ECC05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2203704"/>
            <a:ext cx="2459736" cy="518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4A257"/>
                </a:solidFill>
                <a:latin typeface="Aptos Display"/>
                <a:ea typeface="Aptos Display"/>
                <a:cs typeface="Aptos Display"/>
              </a:rPr>
              <a:t>£10k</a:t>
            </a:r>
            <a:endParaRPr sz="30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CCF87CF-FFF3-4FFA-A84F-D061A9BA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728" y="2761031"/>
            <a:ext cx="2386584" cy="345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Angel buffer</a:t>
            </a:r>
            <a:endParaRPr sz="13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BB00EB7-6434-4086-B3C7-634E79E5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61188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More creator tests, paid acquisition signal, faster learning.</a:t>
            </a:r>
            <a:endParaRPr sz="14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0D5CE00-D60B-45A7-9416-C0B4EAF1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057400"/>
            <a:ext cx="2788920" cy="123444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611B615-FAEB-4A40-8684-4EB249BE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203704"/>
            <a:ext cx="2459736" cy="5184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£20k</a:t>
            </a:r>
            <a:endParaRPr sz="30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A17F60C-4BCF-4E52-A649-0C5B20FB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761031"/>
            <a:ext cx="2386584" cy="34564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Full validation push</a:t>
            </a:r>
            <a:endParaRPr sz="13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B447A91-39E2-4D08-9167-3A110B6D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3611880"/>
            <a:ext cx="23317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5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Enough room to actively chase the Year-1 £100k run-rate.</a:t>
            </a:r>
            <a:endParaRPr sz="14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E76AB6FA-D1C5-41DE-8B17-41168CD4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56048"/>
            <a:ext cx="9464040" cy="621792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52AB359-79C9-4DE1-AA05-9C968910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768" y="5102352"/>
            <a:ext cx="906170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Raise only enough to learn: can we acquire qualified planners, convert bookings and prove £50–£70+ revenue per monetised trip?</a:t>
            </a:r>
            <a:endParaRPr sz="1650"/>
          </a:p>
        </p:txBody>
      </p:sp>
    </p:spTree>
    <p:extLst>
      <p:ext uri="{BB962C8B-B14F-4D97-AF65-F5344CB8AC3E}">
        <p14:creationId xmlns:p14="http://schemas.microsoft.com/office/powerpoint/2010/main" val="18516765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EE8A877-18C2-41DA-A49B-7017368B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Minimum viable budget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B036ED-D25C-4B12-B192-9254139A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Spend only against proof. Keep most cash back until a channel shows signal.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EB11EC4-C51F-4F1B-AF9D-17A4E9F8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4795704-AF76-4A22-A89E-BA36F605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09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CC3CE6D-4B7E-452D-8392-8D6D5A2D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804612-C56D-4717-B6A7-B9B7DE5D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01952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AI, maps, hosting, software</a:t>
            </a:r>
            <a:endParaRPr sz="16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23529D1-68FC-4FEE-A400-E9AF6490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883664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£1–2k</a:t>
            </a:r>
            <a:endParaRPr sz="17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6865C84-CB27-453C-8AA5-08CBD45E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A58CA0A-B612-45EA-AB3C-7D52BB27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505456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Analytics, testing, research</a:t>
            </a:r>
            <a:endParaRPr sz="16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AF778A9-069C-49C1-BAA0-6BDEBC7B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487168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£0.5–1k</a:t>
            </a:r>
            <a:endParaRPr sz="175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5273AF1-2F5D-4B3B-B54B-8011F6FB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916936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B4640B8-D9EF-4758-87F8-F2860E40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Creators + content experiments</a:t>
            </a:r>
            <a:endParaRPr sz="16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BA3374-7616-4B2A-940F-D9AFA60F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090672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£1–3k</a:t>
            </a:r>
            <a:endParaRPr sz="17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D9236DDA-28F4-4DDC-830C-ECB16FC3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3B94A32-FD54-47CF-8E76-DF452168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12464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Paid acquisition tests</a:t>
            </a:r>
            <a:endParaRPr sz="16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EF5B3C58-A8AF-4DF6-B1FF-D9003477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694176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£1.5–5k</a:t>
            </a:r>
            <a:endParaRPr sz="17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6D29E92-CC97-43DF-A8D2-62493A58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23944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910E6A-FC36-4543-B556-813C93A5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1596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Admin, company, legal/accounting</a:t>
            </a:r>
            <a:endParaRPr sz="16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5F370AD-1195-4E2A-843F-4BD3CF76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297680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sz="17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£0.5–1k</a:t>
            </a:r>
            <a:endParaRPr sz="17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7637630-0F6F-41A2-AF8B-ED56CF6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727448"/>
            <a:ext cx="48920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77EF446C-0CDE-413A-B8DA-A783540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828800"/>
            <a:ext cx="3291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22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Validation milestones</a:t>
            </a:r>
            <a:endParaRPr sz="2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34CB0B38-B671-4A42-AD0D-1A8DE0A7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37744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87D0972-5452-4E7C-A95A-849A9AE0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395728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MVP live</a:t>
            </a:r>
            <a:endParaRPr sz="16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9C15F5F-CDEB-45D2-B558-AFB6223F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52928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33D7345D-13E3-4DD1-9184-B01C3FC8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2871216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100+ monetised trips</a:t>
            </a:r>
            <a:endParaRPr sz="16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E1E1ABB5-2651-4F56-9F21-89A70237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328416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B25B84C-6DD8-4678-B160-E5675FC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346704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measured revenue/trip</a:t>
            </a:r>
            <a:endParaRPr sz="16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B35CA5B-2544-479E-B676-B2885E01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803904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15AD4B1-59F9-44C0-9054-EF664B214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3822192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repeatable acquisition signal</a:t>
            </a:r>
            <a:endParaRPr sz="16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35E8BD2-A764-4CA6-ADD1-A32E3659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279392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>
                <a:solidFill>
                  <a:srgbClr val="D9785D"/>
                </a:solidFill>
                <a:latin typeface="Aptos"/>
                <a:ea typeface="Aptos"/>
                <a:cs typeface="Aptos"/>
              </a:rPr>
              <a:t>•</a:t>
            </a:r>
            <a:endParaRPr sz="18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6CAE0ED-0004-4F24-9447-0471459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592" y="4297680"/>
            <a:ext cx="347472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600">
                <a:solidFill>
                  <a:srgbClr val="60766F"/>
                </a:solidFill>
                <a:latin typeface="Aptos"/>
                <a:ea typeface="Aptos"/>
                <a:cs typeface="Aptos"/>
              </a:rPr>
              <a:t>path to 1,000 planners/mo</a:t>
            </a:r>
            <a:endParaRPr sz="16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6138EDA6-059F-4564-B3C9-8D3124735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5230368"/>
            <a:ext cx="420624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C58D8E72-4A99-4B26-816B-CE72E2075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5376672"/>
            <a:ext cx="380390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next raise should be based on evidence, not the idea.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9826350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34CE13E-9663-4C5A-9EF8-ED440236C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10287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A small team with distinct lanes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A82C9A-2367-4BF0-BDE2-797D0BA4D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93345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43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More hands increase the odds of success — as long as roles are complementary and equity is earned through contribution.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A6EE053A-66D4-4643-84A1-1DEF1130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CCE8C1-907D-4481-9AB5-5AC85283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10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230B030-5159-42EE-8948-C850B0FF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E449DF57-8670-4626-A230-E1486EC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1168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8B83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85ACD4E-BD73-450E-A99F-8128E444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96596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Founder</a:t>
            </a:r>
            <a:endParaRPr sz="19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CF63E56-8377-494A-859D-CBF54227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35000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Product, design, product engineering, strategy</a:t>
            </a:r>
            <a:endParaRPr sz="142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AB7CDC6-DE19-4AA4-A88E-0416BFDA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201168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9785D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AFBEB4E-1AEC-40E4-99DD-E92CF7D9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96596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Growth lead</a:t>
            </a:r>
            <a:endParaRPr sz="19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A7A47D5-0DD8-4962-B83E-879F336D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35000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Sales, social, partnerships, creator distribution</a:t>
            </a:r>
            <a:endParaRPr sz="142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66B0902A-BBFB-4707-BEFA-9738C73E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201168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4A257"/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4E54476-B0F8-4667-A1D2-735EFCC3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196596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Strategic angel</a:t>
            </a:r>
            <a:endParaRPr sz="1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FA7E4139-7C2F-4CE3-BD3D-9A3EF962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35000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Capital, investor network, commercial guidance</a:t>
            </a:r>
            <a:endParaRPr sz="142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E8671F8-5C00-4234-A52B-EFB240A7F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52044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A8E64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BD910D2-2656-4028-A630-90DEA8B4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47472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Product / AI advisor</a:t>
            </a:r>
            <a:endParaRPr sz="1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A33D320-ED54-4D06-B0C4-BCC329EB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85876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AI direction, prioritisation, team/product thinking</a:t>
            </a:r>
            <a:endParaRPr sz="142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A745725-FA2B-4627-8252-2E5820F0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520440"/>
            <a:ext cx="292608" cy="292608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0766F"/>
            </a:solidFill>
            <a:prstDash val="solid"/>
          </a:ln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74E40C7-1FB3-4280-A986-BE074171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474720"/>
            <a:ext cx="2606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9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Technical advisor</a:t>
            </a:r>
            <a:endParaRPr sz="19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9F723C0C-D253-464D-84B6-98AF6F7C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85876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Architecture, code review, hard integrations</a:t>
            </a:r>
            <a:endParaRPr sz="1420"/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d1c2e85e24169"/>
          <a:srcRect xmlns:a="http://schemas.openxmlformats.org/drawingml/2006/main" l="4000" t="18000" r="-24283" b="27000"/>
          <a:stretch xmlns:a="http://schemas.openxmlformats.org/drawingml/2006/main"/>
        </p:blipFill>
        <p:spPr>
          <a:xfrm xmlns:a="http://schemas.openxmlformats.org/drawingml/2006/main">
            <a:off x="8641080" y="4343400"/>
            <a:ext cx="2148840" cy="960120"/>
          </a:xfrm>
          <a:prstGeom xmlns:a="http://schemas.openxmlformats.org/drawingml/2006/main" prst="rect">
            <a:avLst/>
          </a:prstGeom>
        </p:spPr>
      </p:pic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DFC52525-319E-42DF-B52D-B8879D09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13248"/>
            <a:ext cx="6400800" cy="50292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67EA08E-2C2C-4B6B-A7D7-4868E22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5559552"/>
            <a:ext cx="599846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152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70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Team philosophy: minimise unnecessary dilution—not the team.</a:t>
            </a:r>
            <a:endParaRPr sz="1700"/>
          </a:p>
        </p:txBody>
      </p:sp>
    </p:spTree>
    <p:extLst>
      <p:ext uri="{BB962C8B-B14F-4D97-AF65-F5344CB8AC3E}">
        <p14:creationId xmlns:p14="http://schemas.microsoft.com/office/powerpoint/2010/main" val="16905595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B4DE6A-20D2-4872-8426-436611EC9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1028700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Equity framework: protect the cap table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88CBD4E-1874-4D5B-896C-C8363788B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Before traction, outside equity should stay small, specific and mostly vested.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D7B93E2-4247-488B-85E1-0683A1F3B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2A7CF7D-0AC3-4C2A-A658-94E85A08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11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7B5ECB34-3D73-425A-BA7E-201DD954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FB43889-4AC8-4A7D-AD67-B01538D8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74520"/>
            <a:ext cx="2560320" cy="141732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F7F5F1B-03C5-476C-AE46-0D5C5215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20824"/>
            <a:ext cx="2231136" cy="595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168B83"/>
                </a:solidFill>
                <a:latin typeface="Aptos Display"/>
                <a:ea typeface="Aptos Display"/>
                <a:cs typeface="Aptos Display"/>
              </a:rPr>
              <a:t>&lt;10%</a:t>
            </a:r>
            <a:endParaRPr sz="30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DB8217A-5588-4122-A1C8-406C4812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682392"/>
            <a:ext cx="2157984" cy="3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target outside founder ownership before traction</a:t>
            </a:r>
            <a:endParaRPr sz="13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F13B248-698D-4E72-A6BF-FE4994DE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74520"/>
            <a:ext cx="2560320" cy="141732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04589D7-A965-4648-8967-ED01981B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2" y="2020824"/>
            <a:ext cx="2231136" cy="595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9785D"/>
                </a:solidFill>
                <a:latin typeface="Aptos Display"/>
                <a:ea typeface="Aptos Display"/>
                <a:cs typeface="Aptos Display"/>
              </a:rPr>
              <a:t>3–6%</a:t>
            </a:r>
            <a:endParaRPr sz="3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502EC7D-15A1-4F7F-A596-1FDA4CA1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2682392"/>
            <a:ext cx="2157984" cy="3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likely externally allocated initially</a:t>
            </a:r>
            <a:endParaRPr sz="13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C7BB3E0B-CEC3-4133-AF07-8971EB792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874520"/>
            <a:ext cx="2560320" cy="1417320"/>
          </a:xfrm>
          <a:prstGeom xmlns:a="http://schemas.openxmlformats.org/drawingml/2006/main" prst="roundRect">
            <a:avLst>
              <a:gd name="adj" fmla="val 7097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1270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72974A8-A976-4D81-8742-150D7FFD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2020824"/>
            <a:ext cx="2231136" cy="5952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3000" b="1">
                <a:solidFill>
                  <a:srgbClr val="D4A257"/>
                </a:solidFill>
                <a:latin typeface="Aptos Display"/>
                <a:ea typeface="Aptos Display"/>
                <a:cs typeface="Aptos Display"/>
              </a:rPr>
              <a:t>15%</a:t>
            </a:r>
            <a:endParaRPr sz="30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C07BFFC6-C680-45B7-A2C2-61D73FF5A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9128" y="2682392"/>
            <a:ext cx="2157984" cy="3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buNone/>
            </a:pPr>
            <a:r>
              <a:rPr sz="1300">
                <a:solidFill>
                  <a:srgbClr val="60766F"/>
                </a:solidFill>
                <a:latin typeface="Aptos"/>
                <a:ea typeface="Aptos"/>
                <a:cs typeface="Aptos"/>
              </a:rPr>
              <a:t>hard ceiling unless co-founder calibre</a:t>
            </a:r>
            <a:endParaRPr sz="13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8D427F5-1F42-48B8-A4AA-AD37D8A7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67328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Strategic angel</a:t>
            </a:r>
            <a:endParaRPr sz="14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DAD08823-0BA6-4CA8-AE54-EDDA87E3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3767328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2–5% total, with contribution equity vesting</a:t>
            </a:r>
            <a:endParaRPr sz="14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D510DD-BF04-41A3-9AAD-6E20D0F0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97096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Product / AI advisor</a:t>
            </a:r>
            <a:endParaRPr sz="14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5228D11-D7B8-48E2-A989-813A81C5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197096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0.25–1.5% depending on actual involvement</a:t>
            </a:r>
            <a:endParaRPr sz="14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F4E1DA6-DBE4-43E0-96AA-0E679C5F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626864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Technical advisor</a:t>
            </a:r>
            <a:endParaRPr sz="14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37720BD8-D878-4108-902B-941747FC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4626864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0.1–0.5% unless they become core builder</a:t>
            </a:r>
            <a:endParaRPr sz="145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A1EAFEA-C50B-42D9-B5A3-D550ABCF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056632"/>
            <a:ext cx="2194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Other advisors</a:t>
            </a:r>
            <a:endParaRPr sz="145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2F64416-C2DF-4B43-8945-9F0DD7B3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5056632"/>
            <a:ext cx="63093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50">
                <a:solidFill>
                  <a:srgbClr val="60766F"/>
                </a:solidFill>
                <a:latin typeface="Aptos"/>
                <a:ea typeface="Aptos"/>
                <a:cs typeface="Aptos"/>
              </a:rPr>
              <a:t>keep combined pool under ~1% initially</a:t>
            </a:r>
            <a:endParaRPr sz="14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77539D4-2CDE-43CF-8037-209638C6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905256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103F3C"/>
          </a:solidFill>
          <a:ln xmlns:a="http://schemas.openxmlformats.org/drawingml/2006/main" w="12700">
            <a:solidFill>
              <a:srgbClr val="103F3C">
                <a:alpha val="85000"/>
              </a:srgbClr>
            </a:solidFill>
            <a:prstDash val="solid"/>
          </a:ln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BA464D6-B66F-4CE4-9EDB-C3B5F1A4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5678424"/>
            <a:ext cx="8650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Rule: pay extra equity for specific ongoing contribution, not availability or goodwill.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6078415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EFE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7BC1B72-3172-434C-BE98-134CF135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30352"/>
            <a:ext cx="80467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103F3C"/>
                </a:solidFill>
                <a:latin typeface="Aptos Display"/>
                <a:ea typeface="Aptos Display"/>
                <a:cs typeface="Aptos Display"/>
              </a:rPr>
              <a:t>Clean company setup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07F48A-7664-41B7-9F08-97395F55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298448"/>
            <a:ext cx="5623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2000"/>
              </a:lnSpc>
              <a:buNone/>
            </a:pPr>
            <a:r>
              <a:rPr sz="1750">
                <a:solidFill>
                  <a:srgbClr val="60766F"/>
                </a:solidFill>
                <a:latin typeface="Aptos"/>
                <a:ea typeface="Aptos"/>
                <a:cs typeface="Aptos"/>
              </a:rPr>
              <a:t>Keep Morrovia separate from the existing contracting Ltd before investment, IP and affiliate contracts build up.</a:t>
            </a:r>
            <a:endParaRPr sz="175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C46D395-9751-4A89-8C39-F9820E99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09728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68B83"/>
                </a:solidFill>
                <a:latin typeface="Aptos"/>
                <a:ea typeface="Aptos"/>
                <a:cs typeface="Aptos"/>
              </a:rPr>
              <a:t>morrovia</a:t>
            </a:r>
            <a:endParaRPr sz="8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A881096-EF8D-4C61-B2C5-D830010C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10528"/>
            <a:ext cx="274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>
                <a:solidFill>
                  <a:srgbClr val="60766F"/>
                </a:solidFill>
                <a:latin typeface="Aptos"/>
                <a:ea typeface="Aptos"/>
                <a:cs typeface="Aptos"/>
              </a:rPr>
              <a:t>12</a:t>
            </a:r>
            <a:endParaRPr sz="8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E9CC7B2-1569-4DE9-8C05-AB9AD029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336792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CAD8CD">
                <a:alpha val="80000"/>
              </a:srgbClr>
            </a:solidFill>
            <a:prstDash val="solid"/>
          </a:ln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A8945BA-1EA6-4864-A192-3304688D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Old UK Ltd</a:t>
            </a:r>
            <a:endParaRPr sz="18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141BB6-BFB5-4F37-AE5F-A6F65D91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84708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Keep as personal contracting vehicle. Do not mix client income with startup shareholders.</a:t>
            </a:r>
            <a:endParaRPr sz="142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994EF17A-6A2D-4457-87D6-6A9872B3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9572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6032E5-DF70-4E6C-84B5-3F9B320A5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5176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New Morrovia Ltd</a:t>
            </a:r>
            <a:endParaRPr sz="1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55FB69-F68E-4DC8-A2FF-A777931F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67004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Owns product, code, brand, domain, affiliate accounts and investment.</a:t>
            </a:r>
            <a:endParaRPr sz="142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B7A86DDA-42DF-4168-BA38-F4EFFE83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1868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16804A4-B55F-4FDA-895D-DCB26B24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Remote-first setup</a:t>
            </a:r>
            <a:endParaRPr sz="18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092CEF3-343F-4D34-9530-2B5017D2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49300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Incorporate online, use registered office, open business banking such as Revolut Business.</a:t>
            </a:r>
            <a:endParaRPr sz="142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1424E66-42EB-4647-B9AC-C7714919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4164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99723F7-21DC-44B6-8359-8A02E03B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97680"/>
            <a:ext cx="2057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SEIS-ready path</a:t>
            </a:r>
            <a:endParaRPr sz="18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FDA58E6-81B2-40E9-BD83-9680D1CA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4315968"/>
            <a:ext cx="443484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5000"/>
              </a:lnSpc>
              <a:buNone/>
            </a:pPr>
            <a:r>
              <a:rPr sz="1420">
                <a:solidFill>
                  <a:srgbClr val="60766F"/>
                </a:solidFill>
                <a:latin typeface="Aptos"/>
                <a:ea typeface="Aptos"/>
                <a:cs typeface="Aptos"/>
              </a:rPr>
              <a:t>Issue new shares directly from Morrovia Ltd if angel investment proceeds.</a:t>
            </a:r>
            <a:endParaRPr sz="142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EA28BA51-471C-4900-A7B3-47DBA8BB9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864608"/>
            <a:ext cx="685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CAD8CD"/>
            </a:solidFill>
            <a:prstDash val="solid"/>
          </a:ln>
        </p:spPr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9ea9012d664f86"/>
          <a:srcRect xmlns:a="http://schemas.openxmlformats.org/drawingml/2006/main" l="40000" t="5000" r="9030" b="5000"/>
          <a:stretch xmlns:a="http://schemas.openxmlformats.org/drawingml/2006/main"/>
        </p:blipFill>
        <p:spPr>
          <a:xfrm xmlns:a="http://schemas.openxmlformats.org/drawingml/2006/main">
            <a:off x="8366760" y="1600200"/>
            <a:ext cx="2788920" cy="3611880"/>
          </a:xfrm>
          <a:prstGeom xmlns:a="http://schemas.openxmlformats.org/drawingml/2006/main" prst="rect">
            <a:avLst/>
          </a:prstGeom>
        </p:spPr>
      </p:pic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B23383C4-CECF-4E18-A611-17CF6F5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532120"/>
            <a:ext cx="6766560" cy="475488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0F0EA"/>
          </a:solidFill>
          <a:ln xmlns:a="http://schemas.openxmlformats.org/drawingml/2006/main" w="12700">
            <a:solidFill>
              <a:srgbClr val="CFE7DB">
                <a:alpha val="85000"/>
              </a:srgbClr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ED9CFBBD-6EF0-437C-A51A-994D898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5678424"/>
            <a:ext cx="636422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6000"/>
              </a:lnSpc>
              <a:buNone/>
            </a:pPr>
            <a:r>
              <a:rPr sz="1650" b="1">
                <a:solidFill>
                  <a:srgbClr val="103F3C"/>
                </a:solidFill>
                <a:latin typeface="Aptos"/>
                <a:ea typeface="Aptos"/>
                <a:cs typeface="Aptos"/>
              </a:rPr>
              <a:t>Clean entity. Clean IP. Clean cap table. Cleaner angel conversation.</a:t>
            </a:r>
            <a:endParaRPr sz="1650"/>
          </a:p>
        </p:txBody>
      </p:sp>
    </p:spTree>
    <p:extLst>
      <p:ext uri="{BB962C8B-B14F-4D97-AF65-F5344CB8AC3E}">
        <p14:creationId xmlns:p14="http://schemas.microsoft.com/office/powerpoint/2010/main" val="98084505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103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32208C-D247-4E30-ACFD-9ED86C2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"/>
            <a:ext cx="34747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morrovia</a:t>
            </a:r>
            <a:endParaRPr sz="4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5F75E5-C582-4B15-B7D8-01385467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25880"/>
            <a:ext cx="63093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031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3200" b="1">
                <a:solidFill>
                  <a:srgbClr val="F6EFE3"/>
                </a:solidFill>
                <a:latin typeface="Aptos Display"/>
                <a:ea typeface="Aptos Display"/>
                <a:cs typeface="Aptos Display"/>
              </a:rPr>
              <a:t>A travel planner with a transaction engine underneath.</a:t>
            </a:r>
            <a:endParaRPr sz="3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27CF8B-CC14-4802-B99B-DF1202AA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86000"/>
            <a:ext cx="56692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>
                <a:solidFill>
                  <a:srgbClr val="DCEBE4"/>
                </a:solidFill>
                <a:latin typeface="Aptos"/>
                <a:ea typeface="Aptos"/>
                <a:cs typeface="Aptos"/>
              </a:rPr>
              <a:t>The near-term ask is intentionally small: launch, prove conversion and raise only when the data deserves it.</a:t>
            </a:r>
            <a:endParaRPr sz="17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3AB746-D393-4704-B2D3-1B86F09F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3756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01</a:t>
            </a:r>
            <a:endParaRPr sz="1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608CDD7-41CD-4E5F-8BEF-47C14383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1012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Launch MVP</a:t>
            </a:r>
            <a:endParaRPr sz="17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D800894-A0B8-4E31-80BF-91B7B292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4845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route builder, saved trips and trip pages</a:t>
            </a:r>
            <a:endParaRPr sz="11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3745CF-F963-4ACC-9895-FE391ED8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33756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02</a:t>
            </a:r>
            <a:endParaRPr sz="12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30F311B-7B4D-478E-BF0D-98CF6296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1012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Validate revenue</a:t>
            </a:r>
            <a:endParaRPr sz="17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52BBCD1-DE5C-42BC-BC94-E391FD3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4845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hotels, flights, activities and Trip Pass</a:t>
            </a:r>
            <a:endParaRPr sz="11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5931BCE-4D0E-420B-A5EF-1DE8416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976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03</a:t>
            </a:r>
            <a:endParaRPr sz="12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88C0222-A1F2-4A35-A649-E0BB3FDE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7024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 distribution</a:t>
            </a:r>
            <a:endParaRPr sz="17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956B7D7-F3AF-4DA2-818D-83CFA3D9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0857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1,000 MAUs at ~12% conversion</a:t>
            </a:r>
            <a:endParaRPr sz="11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6E609BF-2C27-4BBE-B8B5-4FFA7E78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297680"/>
            <a:ext cx="41148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2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04</a:t>
            </a:r>
            <a:endParaRPr sz="12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C8488D8-1B5C-44EA-A153-B9CE5068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70248"/>
            <a:ext cx="20116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Decide next raise</a:t>
            </a:r>
            <a:endParaRPr sz="17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917A168-FE00-4CAF-9498-796833AA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08576"/>
            <a:ext cx="21945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150">
                <a:solidFill>
                  <a:srgbClr val="BFD7D0"/>
                </a:solidFill>
                <a:latin typeface="Aptos"/>
                <a:ea typeface="Aptos"/>
                <a:cs typeface="Aptos"/>
              </a:rPr>
              <a:t>bootstrap, angel extension or seed</a:t>
            </a:r>
            <a:endParaRPr sz="1150"/>
          </a:p>
        </p:txBody>
      </p:sp>
      <p:pic>
        <p:nvPicPr>
          <p:cNvPr id="3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f37542b384981"/>
          <a:srcRect xmlns:a="http://schemas.openxmlformats.org/drawingml/2006/main" l="10000" t="0" r="16512" b="0"/>
          <a:stretch xmlns:a="http://schemas.openxmlformats.org/drawingml/2006/main"/>
        </p:blipFill>
        <p:spPr>
          <a:xfrm xmlns:a="http://schemas.openxmlformats.org/drawingml/2006/main">
            <a:off x="7315200" y="594360"/>
            <a:ext cx="4160520" cy="5532120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536D0D0-2926-4C88-BB4F-D753B0AF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72200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300" b="1">
                <a:solidFill>
                  <a:srgbClr val="F0B78E"/>
                </a:solidFill>
                <a:latin typeface="Aptos"/>
                <a:ea typeface="Aptos"/>
                <a:cs typeface="Aptos"/>
              </a:rPr>
              <a:t>morrovia.com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05413087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2026-08-13T18:20:49.1560000Z</dcterms:created>
  <dcterms:modified xsi:type="dcterms:W3CDTF">2026-08-13T18:20:49.1560000Z</dcterms:modified>
</coreProperties>
</file>